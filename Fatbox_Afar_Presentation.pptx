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64592" cy="20116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FATBOX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CDDEE"/>
                </a:solidFill>
              </a:rPr>
              <a:t>Fault Analysis Toolbox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ABBCC"/>
                </a:solidFill>
              </a:rPr>
              <a:t>Semi-automated fault extraction &amp; structural analysis
Applied to the Afar region — TanDEM-X 30 m 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Gayrin, Wrona &amp; Brune (2025)  •  GFZ Helmholtz Centre for Geosciences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Fatbox?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An open-source Python toolbox for mapping and analysing fault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Fatbox extracts fault networks from various datasets and automatically computes their geometric and kinematic properties.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~150 Python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79191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Works on DEMs, PIV strain data, numerical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26663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Semi-automated extraction + full structural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74135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Outputs: strike, throw, extension, displacement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21607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Jupyter notebook workflow — step by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669280" cy="521208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A1E"/>
                </a:solidFill>
              </a:rPr>
              <a:t>The 6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preprocessing.py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Load &amp; prepare the DEM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edits.py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305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Extract &amp; edit the fault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metrics.py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478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Compute lengths and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plots.py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8254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Visualise the network &amp;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72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utils.py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Low-level helper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20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DDFF"/>
                </a:solidFill>
              </a:rPr>
              <a:t>structural_analysis.py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5204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Strike, dip, throw, extension…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Input data — Afar DEM (TanDEM-X 30 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630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01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TDM1_DEM_30m_UTM37.tif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41732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630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01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UTM Zone 37  (EPSG:32637)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41732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14630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1801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30.2 m / pixel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6974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7 343 × 11 073 pixels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5176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265176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26974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~222 km (E–W)  ×  ~334 km (N–S)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2651760"/>
            <a:ext cx="356616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2651760"/>
            <a:ext cx="3566160" cy="347472"/>
          </a:xfrm>
          <a:prstGeom prst="rect">
            <a:avLst/>
          </a:prstGeom>
          <a:solidFill>
            <a:srgbClr val="1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26974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NW corner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7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X = 716 922 m   Y = 1 440 548 m  (UTM)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1143000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Pixel ↔ UTM coordinate 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</a:rPr>
              <a:t>UTM_Easting  = 716922 + col * 30.21          # column index → UTM 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902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</a:rPr>
              <a:t>UTM_Northing = 1440548 - row * 30.21          # row index   → UTM 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37175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</a:rPr>
              <a:t>col = (UTM_Easting  - 716922)  / 30.21        # UTM X → column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84063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</a:rPr>
              <a:t>row = (1440548 - UTM_Northing) / 30.21        # UTM Y → 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Workflow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Load 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Extract a tile with pixel
or lat/lon coordinates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1095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4248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11095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4248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Fault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Smooth → Canny edges
→ Clean → Skeletonise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3591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93591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Build a graph: nodes =
pixels, edges = segments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6088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Connect, simplify, remove
spurious components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7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8583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58583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Border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Remove edges whose cross-
section exits the DEM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4232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Structural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Strike, throw, extension,
displacement per fault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23576" y="1280160"/>
            <a:ext cx="50292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96728" y="1298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23576" y="1828800"/>
            <a:ext cx="141732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96728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Plots &amp; export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6728" y="2359152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Rose diagram, D/L scatter,
extension map…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BCC"/>
                </a:solidFill>
              </a:rPr>
              <a:t>All steps run in the Jupyter notebook  •  Each intermediate result can be saved and reloaded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Fault extraction —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Step 2: DEM  →  Smoothed  →  Edges  →  Cleaned  →  Skeleton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920240" cy="6400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371600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25880"/>
            <a:ext cx="1920240" cy="640080"/>
          </a:xfrm>
          <a:prstGeom prst="rect">
            <a:avLst/>
          </a:prstGeom>
          <a:solidFill>
            <a:srgbClr val="2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371600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Gaussian
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25880"/>
            <a:ext cx="1920240" cy="640080"/>
          </a:xfrm>
          <a:prstGeom prst="rect">
            <a:avLst/>
          </a:prstGeom>
          <a:solidFill>
            <a:srgbClr val="8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371600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Canny
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325880"/>
            <a:ext cx="1920240" cy="640080"/>
          </a:xfrm>
          <a:prstGeom prst="rect">
            <a:avLst/>
          </a:prstGeom>
          <a:solidFill>
            <a:srgbClr val="9A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371600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Remove
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25880"/>
            <a:ext cx="1920240" cy="6400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371600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Skeleton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48840"/>
            <a:ext cx="2743200" cy="429768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148840"/>
            <a:ext cx="274320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176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s_smoothed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Gaussian σ — pre-filter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99232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Blurs the DEM before edge detection to suppress pixel noise.
0 = no smoothing.  Typical: 1–3.
↑ Increase if too many edges appear everywhere (lava, wadis).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148840"/>
            <a:ext cx="2743200" cy="429768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148840"/>
            <a:ext cx="274320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176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s_edges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Canny σ — edge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999232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Controls the scale at which topographic discontinuities are detected.
↓ Lower → fine features.  ↑ Higher → only strong broad scarps.
Increase if rivers / lava flows are falsely detected.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48840"/>
            <a:ext cx="2743200" cy="429768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148840"/>
            <a:ext cx="274320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2176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msize_cleaned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Minimum object size (pixels)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999232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Deletes connected groups smaller than this value.
30 px × 30 m = 900 m minimum fault length.
Afar faults are km-scale → can use 50–100 to remove noise.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2148840"/>
            <a:ext cx="2743200" cy="429768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2148840"/>
            <a:ext cx="274320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176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con_cleaned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Connectivity (leave at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999232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Defines neighbour connectivity for noise removal.
2 = 8-connectivity (includes diagonals).
Do not change this parameter.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Tuning the extraction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Read the 6-panel overview plot and adjust until the skeleton matches real faults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47548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371600"/>
            <a:ext cx="6858000" cy="47548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08176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Problem visible in the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1408176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1847088"/>
            <a:ext cx="6858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83664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Too many tiny edges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883664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↑  Increase  s_smoothed  and/or  msize_cleaned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457200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2322576"/>
            <a:ext cx="685800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59152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Real fault scarps not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359152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↓  Decrease  s_edges  or  s_smoothed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98064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798064"/>
            <a:ext cx="6858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34640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Rivers / lava flows detected as faults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834640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↑  Increase  s_edges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73552"/>
            <a:ext cx="457200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273552"/>
            <a:ext cx="6858000" cy="4754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310128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Short noise segments survive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3310128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↑  Increase  msize_cleaned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749039"/>
            <a:ext cx="6858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785615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Long faults broken into many pieces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3785615"/>
            <a:ext cx="6766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↓  Decrease  msize_cleaned  —  or use  connect_close_components  in filtering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A1E"/>
                </a:solidFill>
              </a:rPr>
              <a:t>Recommended approach — hand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11430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Map a small representative tile in QGIS (10–20 km², a few hours of work)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20640"/>
            <a:ext cx="11430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Export as a GeoTIFF raster at 30 m resolution (burn value = 1, nodata = 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440679"/>
            <a:ext cx="11430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Load in Fatbox and overlay with the automated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60719"/>
            <a:ext cx="11430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Adjust parameters until the two networks match, then apply to the full DEM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80759"/>
            <a:ext cx="11430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Pick a tile with both clear scarps AND noisy terrain (lava, wadis) for generalisability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Structural analysis — what is measured?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A topographic cross-section is drawn perpendicular to each fault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A1E"/>
                </a:solidFill>
              </a:rPr>
              <a:t>Cross-section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For each fault segment:
  1.  Find the midpoint M of the segment
  2.  Draw a profile perpendicular to the fault,
       extending  d  pixels on each side of M
  3.  Sample elevation along the profile
  4.  Compute throw, dip, extension, displacement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A1E"/>
                </a:solidFill>
              </a:rPr>
              <a:t>Key setting:  d = 12 pixels = 360 m each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use_natural_dip = False  →  dip_constrain = 60°
(recommended when fault scarps are eroded)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71600"/>
            <a:ext cx="228600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371600"/>
            <a:ext cx="352044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40817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408176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10512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10512"/>
            <a:ext cx="3520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84708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Strike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47088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Azimuth direction of the fault (degrees)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249424"/>
            <a:ext cx="228600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249424"/>
            <a:ext cx="352044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2286000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286000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Max vertical offset across the scarp (metres)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688336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2688336"/>
            <a:ext cx="3520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62472" y="27249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Natural dip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724912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Apparent dip angle measured from the DEM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127248"/>
            <a:ext cx="228600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127248"/>
            <a:ext cx="352044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16382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Extension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163824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Horizontal component of displacement (metres)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56616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3566160"/>
            <a:ext cx="3520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2472" y="360273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Displacement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602736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√(throw² + extension²)  —  total slip vector (m)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005072"/>
            <a:ext cx="228600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4005072"/>
            <a:ext cx="3520440" cy="43891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2472" y="404164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Dip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041648"/>
            <a:ext cx="3429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Which side is the hanging wall (east / west)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572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summary_matrix — one row per fault, 7 columns: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937760"/>
            <a:ext cx="580644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59" y="4983480"/>
            <a:ext cx="5623559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AADDFF"/>
                </a:solidFill>
                <a:latin typeface="Courier New"/>
              </a:rPr>
              <a:t>[ label | mean_strike° | length_m | max_dip° | mean_throw_m | mean_ext_m | max_disp_m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Output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264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7451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Distribution of fault strike directions
(azimuth histogram in polar form)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264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Length histogram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7451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Distribution of fault lengths
(bars + cumulative dot plot)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2646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 ≥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7451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Number of faults longer than x
(power-law / exponential fit)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7472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295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Extension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7763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Edge attribute (extension / throw /
displacement) coloured on the DEM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47472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347472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35295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 / L scatter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97763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Max displacement vs length
for all faults in the network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474720"/>
            <a:ext cx="3657600" cy="192024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47472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5295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 / L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977639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Displacement along a single fault
(bell-shape = isolated fault growth)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Adapted notebook — Afar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tutorials/digital_elevation_models/Tuto_DEM_Afar_notebook.ipynb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474720" cy="42062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1371600"/>
            <a:ext cx="7955279" cy="42062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08176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3632" y="1408176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Original tutorial → Adapted for Afar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92224"/>
            <a:ext cx="3474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792224"/>
            <a:ext cx="795527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28800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Google Colab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1828800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Drive mount + pip install → Removed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347472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2212848"/>
            <a:ext cx="7955279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49424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modules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249424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/content/drive/…/modules → /home/guiguizz/stage/modules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3474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2633472"/>
            <a:ext cx="795527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670048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save_path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2670048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Google Drive path → /home/guiguizz/stage/tutorials/…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54096"/>
            <a:ext cx="347472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3054096"/>
            <a:ext cx="7955279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090672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DEM loading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3090672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Pre-saved .npy arrays → Loads from TDM1_DEM_30m_UTM37.tif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3474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3474720"/>
            <a:ext cx="795527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511296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Coordinate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3511296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'geographic' (lat/lon) → 'grid coordinates' (pixel indices)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5344"/>
            <a:ext cx="3474720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3895344"/>
            <a:ext cx="7955279" cy="42062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931920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Default tile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3931920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Full 12 km² demo DEM → First 1 000 × 1 000 px (≈ 30 km²)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15968"/>
            <a:ext cx="3474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0" y="4315968"/>
            <a:ext cx="795527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352544"/>
            <a:ext cx="33832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Output filenames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352544"/>
            <a:ext cx="7863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*_GLO* → *_afar*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74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7A1E"/>
                </a:solidFill>
              </a:rPr>
              <a:t>How to pick your tile (pixel indices):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40680"/>
            <a:ext cx="11430000" cy="1307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11247120" cy="1216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AADDFF"/>
                </a:solidFill>
                <a:latin typeface="Courier New"/>
              </a:rPr>
              <a:t>coord_north = 0     # first row  (row 0 = northern edge of DEM)</a:t>
            </a:r>
          </a:p>
          <a:p>
            <a:pPr algn="l"/>
            <a:r>
              <a:rPr sz="1300">
                <a:solidFill>
                  <a:srgbClr val="AADDFF"/>
                </a:solidFill>
                <a:latin typeface="Courier New"/>
              </a:rPr>
              <a:t>coord_south = 1000  # last row   (1 000 px × 30 m = 30 km south)</a:t>
            </a:r>
          </a:p>
          <a:p>
            <a:pPr algn="l"/>
            <a:r>
              <a:rPr sz="1300">
                <a:solidFill>
                  <a:srgbClr val="AADDFF"/>
                </a:solidFill>
                <a:latin typeface="Courier New"/>
              </a:rPr>
              <a:t>coord_west  = 0     # first col  (col 0 = western edge of DEM)</a:t>
            </a:r>
          </a:p>
          <a:p>
            <a:pPr algn="l"/>
            <a:r>
              <a:rPr sz="1300">
                <a:solidFill>
                  <a:srgbClr val="AADDFF"/>
                </a:solidFill>
                <a:latin typeface="Courier New"/>
              </a:rPr>
              <a:t>coord_east  = 1000  # last col   → for full DEM use 7343 / 11073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Using hand mapping to tune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Tuto_DEM_GLO30_hand_map_notebook.ipynb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7A1E"/>
                </a:solidFill>
              </a:rPr>
              <a:t>What the hand-map notebook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Instead of automated edge detection,
load a GeoTIFF of manually-drawn faults
(black/white raster: fault = 1, background = 0).
The rest of the pipeline is identical:
  • filter → border processing
  • structural analysis
  • same plots
Also overlays both networks (hand vs auto)
on the same hillshade to compare visually.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5806440" cy="50292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7A1E"/>
                </a:solidFill>
              </a:rPr>
              <a:t>How to create the hand-map GeoTIFF in QGIS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920240"/>
            <a:ext cx="347472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93852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Draw fault traces as a multiline vector layer (shapefile)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359152"/>
            <a:ext cx="347472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377440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5915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Rasterize with GDAL 'Rasterize (vector to raster)':
     Burn value = 1  •  Nodata = 0
     Resolution = 30 m  •  Same extent as DEM tile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108960"/>
            <a:ext cx="347472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12724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Export as GeoTIFF (same CRS as DEM)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547872"/>
            <a:ext cx="347472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3566160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4787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Load in Fatbox with extract_geotiff_and_coord
     using the same pixel coordinates as the DEM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97680"/>
            <a:ext cx="347472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315968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976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Overlay and adjust s_smoothed, s_edges, msize_cleaned
     until automated result matches hand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6400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49039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264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we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3749039" cy="45720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TanDEM-X 30 m DEM of the Afar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Fatbox installed and configured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Adapted notebook ready to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Full workflow documented in FATBOX_NOTES.md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3749039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4264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Immediate next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828800"/>
            <a:ext cx="3749039" cy="45720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Open Tuto_DEM_Afar_notebook.ipynb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Choose a representative 30 km² 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Run the extraction and inspect the 6-panel plot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Tune s_smoothed, s_edges, msize_cleaned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4187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Save the filtered network (save_G = True)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749039" cy="457200"/>
          </a:xfrm>
          <a:prstGeom prst="rect">
            <a:avLst/>
          </a:prstGeom>
          <a:solidFill>
            <a:srgbClr val="2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4264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For best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749039" cy="4572000"/>
          </a:xfrm>
          <a:prstGeom prst="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Map a small area by hand in QGIS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Use hand-map notebook to compare networks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Validate parameters before scaling to full DEM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Use save/load at each stage to avoid re-running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AA"/>
                </a:solidFill>
              </a:rPr>
              <a:t>Gayrin, Wrona &amp; Brune (2025)  •  https://doi.org/10.5281/zenodo.15716080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